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D3436"/>
                </a:solidFill>
                <a:latin typeface="Microsoft YaHei"/>
              </a:defRPr>
            </a:pPr>
            <a:r>
              <a:t>基于RAG与多Agent协作的</a:t>
            </a:r>
            <a:br/>
            <a:r>
              <a:t>408考研智能辅导系统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B6B93"/>
                </a:solidFill>
                <a:latin typeface="Microsoft YaHei"/>
              </a:defRPr>
            </a:pPr>
            <a:r>
              <a:t>检索增强生成 · 多智能体协作 · 知识图谱 · 自适应检索策略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611880"/>
            <a:ext cx="73152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3436"/>
                </a:solidFill>
                <a:latin typeface="Microsoft YaHei"/>
              </a:defRPr>
            </a:pPr>
            <a:r>
              <a:t>毕业设计答辩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36E72"/>
                </a:solidFill>
                <a:latin typeface="Microsoft YaHei"/>
              </a:defRPr>
            </a:pPr>
            <a:r>
              <a:t>指导教师：刘秋菊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98480" y="5760720"/>
            <a:ext cx="1280160" cy="731520"/>
          </a:xfrm>
          <a:prstGeom prst="round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436"/>
                </a:solidFill>
                <a:latin typeface="Microsoft YaHei"/>
              </a:defRPr>
            </a:pPr>
            <a:r>
              <a:t>研究背景与问题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1945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6B93"/>
                </a:solidFill>
                <a:latin typeface="Microsoft YaHei"/>
              </a:defRPr>
            </a:pPr>
            <a:r>
              <a:t>知识滞后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通用LLM训练数据存在</a:t>
            </a:r>
            <a:br/>
            <a:r>
              <a:t>截止时间，无法覆盖</a:t>
            </a:r>
            <a:br/>
            <a:r>
              <a:t>持续更新的学科知识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371600"/>
            <a:ext cx="21945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6B93"/>
                </a:solidFill>
                <a:latin typeface="Microsoft YaHei"/>
              </a:defRPr>
            </a:pPr>
            <a:r>
              <a:t>幻觉风险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缺乏可靠上下文时生成</a:t>
            </a:r>
            <a:br/>
            <a:r>
              <a:t>看似合理但实际错误的内容,</a:t>
            </a:r>
            <a:br/>
            <a:r>
              <a:t>教学场景尤为危险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371600"/>
            <a:ext cx="21945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6B93"/>
                </a:solidFill>
                <a:latin typeface="Microsoft YaHei"/>
              </a:defRPr>
            </a:pPr>
            <a:r>
              <a:t>体系缺失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1031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缺乏对408四门专业课</a:t>
            </a:r>
            <a:br/>
            <a:r>
              <a:t>知识体系的深度理解，</a:t>
            </a:r>
            <a:br/>
            <a:r>
              <a:t>回答缺乏关联性</a:t>
            </a:r>
          </a:p>
        </p:txBody>
      </p:sp>
      <p:sp>
        <p:nvSpPr>
          <p:cNvPr id="13" name="Chevron 12"/>
          <p:cNvSpPr/>
          <p:nvPr/>
        </p:nvSpPr>
        <p:spPr>
          <a:xfrm>
            <a:off x="8046720" y="2011680"/>
            <a:ext cx="731520" cy="182880"/>
          </a:xfrm>
          <a:prstGeom prst="chevron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6459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6B93"/>
                </a:solidFill>
                <a:latin typeface="Microsoft YaHei"/>
              </a:defRPr>
            </a:pPr>
            <a:r>
              <a:t>RAG + Multi-Agent</a:t>
            </a:r>
            <a:br/>
            <a:r>
              <a:t>融合方案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4747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436"/>
                </a:solidFill>
                <a:latin typeface="Microsoft YaHei"/>
              </a:defRPr>
            </a:pPr>
            <a:r>
              <a:t>检索增强生成：从知识库检索</a:t>
            </a:r>
            <a:br/>
            <a:r>
              <a:t>真实教材内容作为生成依据</a:t>
            </a:r>
            <a:br/>
            <a:br/>
            <a:r>
              <a:t>多Agent协作：四个专业Agent</a:t>
            </a:r>
            <a:br/>
            <a:r>
              <a:t>分工完成教学辅导任务</a:t>
            </a:r>
            <a:br/>
            <a:br/>
            <a:r>
              <a:t>质量保障：前置守卫+后治理</a:t>
            </a:r>
            <a:br/>
            <a:r>
              <a:t>+语义反思三层防线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10698480" cy="127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6B93"/>
                </a:solidFill>
                <a:latin typeface="Microsoft YaHei"/>
              </a:defRPr>
            </a:pPr>
            <a:r>
              <a:t>408考研四门核心专业课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75488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256032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6B93"/>
                </a:solidFill>
                <a:latin typeface="Microsoft YaHei"/>
              </a:defRPr>
            </a:pPr>
            <a:r>
              <a:t>数据结构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12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线性表 · 树与二叉树 · 图</a:t>
            </a:r>
            <a:br/>
            <a:r>
              <a:t>查找 · 排序 · 算法分析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475488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66160" y="4754880"/>
            <a:ext cx="256032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6B93"/>
                </a:solidFill>
                <a:latin typeface="Microsoft YaHei"/>
              </a:defRPr>
            </a:pPr>
            <a:r>
              <a:t>计算机组成原理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5212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数据表示 · 存储系统</a:t>
            </a:r>
            <a:br/>
            <a:r>
              <a:t>指令系统 · CPU · 总线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75488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754880"/>
            <a:ext cx="256032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6B93"/>
                </a:solidFill>
                <a:latin typeface="Microsoft YaHei"/>
              </a:defRPr>
            </a:pPr>
            <a:r>
              <a:t>操作系统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212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进程管理 · 内存管理</a:t>
            </a:r>
            <a:br/>
            <a:r>
              <a:t>文件系统 · I/O管理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475488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4754880"/>
            <a:ext cx="256032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6B93"/>
                </a:solidFill>
                <a:latin typeface="Microsoft YaHei"/>
              </a:defRPr>
            </a:pPr>
            <a:r>
              <a:t>计算机网络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5212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36E72"/>
                </a:solidFill>
                <a:latin typeface="Microsoft YaHei"/>
              </a:defRPr>
            </a:pPr>
            <a:r>
              <a:t>体系结构 · 网络层</a:t>
            </a:r>
            <a:br/>
            <a:r>
              <a:t>传输层 · TCP/IP · 应用层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436"/>
                </a:solidFill>
                <a:latin typeface="Microsoft YaHei"/>
              </a:defRPr>
            </a:pPr>
            <a:r>
              <a:t>系统架构总览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54864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822960"/>
          </a:xfrm>
          <a:prstGeom prst="roundRect">
            <a:avLst/>
          </a:prstGeom>
          <a:solidFill>
            <a:srgbClr val="2DA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前端展示层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Next.js + React + TailwindCSS</a:t>
            </a:r>
            <a:br/>
            <a:r>
              <a:t>对话 · 知识库 · 知识图谱 · 出题 · 追踪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029200" cy="822960"/>
          </a:xfrm>
          <a:prstGeom prst="roundRect">
            <a:avLst/>
          </a:prstGeom>
          <a:solidFill>
            <a:srgbClr val="3D8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API服务层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FastAPI + Uvicorn</a:t>
            </a:r>
            <a:br/>
            <a:r>
              <a:t>JWT认证 · SSE流式 · REST接口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029200" cy="822960"/>
          </a:xfrm>
          <a:prstGeom prst="round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多Agent协作层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LangGraph + Supervisor路由</a:t>
            </a:r>
            <a:br/>
            <a:r>
              <a:t>知识问答 · 题目生成 · 答案批改 · 学习路径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029200" cy="822960"/>
          </a:xfrm>
          <a:prstGeom prst="round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检索增强管线层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ChromaDB + Neo4j + BGE-M3</a:t>
            </a:r>
            <a:br/>
            <a:r>
              <a:t>5路并行召回 · RRF融合 · Reranker · 缓存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5029200" cy="82296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数据存储层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ChromaDB向量库 · Neo4j图数据库 · SQLite关系库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280160"/>
            <a:ext cx="53035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6B93"/>
                </a:solidFill>
                <a:latin typeface="Microsoft YaHei"/>
              </a:defRPr>
            </a:pPr>
            <a:r>
              <a:t>核心创新点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1920240"/>
            <a:ext cx="54864" cy="7315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1920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Microsoft YaHei"/>
              </a:defRPr>
            </a:pPr>
            <a:r>
              <a:t>L1/L2/L3 三层自适应检索深度</a:t>
            </a:r>
            <a:br/>
            <a:r>
              <a:t>简单查询2-7秒，复杂查询60-180秒</a:t>
            </a:r>
            <a:br/>
            <a:r>
              <a:t>延迟与质量动态平衡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971800"/>
            <a:ext cx="54864" cy="7315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2971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Microsoft YaHei"/>
              </a:defRPr>
            </a:pPr>
            <a:r>
              <a:t>5路并行召回 + RRF加权融合</a:t>
            </a:r>
            <a:br/>
            <a:r>
              <a:t>语义 · BM25 · 元数据 · 知识图谱</a:t>
            </a:r>
            <a:br/>
            <a:r>
              <a:t>双路比例保证防单路由垄断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023360"/>
            <a:ext cx="54864" cy="7315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40233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Microsoft YaHei"/>
              </a:defRPr>
            </a:pPr>
            <a:r>
              <a:t>三阶段质量保障机制</a:t>
            </a:r>
            <a:br/>
            <a:r>
              <a:t>前置守卫 → 后置治理 → 语义反思</a:t>
            </a:r>
            <a:br/>
            <a:r>
              <a:t>有效抑制幻觉，忠实度0.96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5074920"/>
            <a:ext cx="54864" cy="7315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50749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Microsoft YaHei"/>
              </a:defRPr>
            </a:pPr>
            <a:r>
              <a:t>语义缓存：命中率80%</a:t>
            </a:r>
            <a:br/>
            <a:r>
              <a:t>冷启动3-5s → 缓存命中800ms</a:t>
            </a:r>
            <a:br/>
            <a:r>
              <a:t>2.7-4.4倍加速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436"/>
                </a:solidFill>
                <a:latin typeface="Microsoft YaHei"/>
              </a:defRPr>
            </a:pPr>
            <a:r>
              <a:t>检索增强生成管线 — 核心引擎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54864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7373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737360" cy="50800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6B93"/>
                </a:solidFill>
                <a:latin typeface="Microsoft YaHei"/>
              </a:defRPr>
            </a:pPr>
            <a:r>
              <a:t>查询分类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7维意图</a:t>
            </a:r>
            <a:br/>
            <a:r>
              <a:t>分类模型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468880"/>
            <a:ext cx="182880" cy="254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40" y="1828800"/>
            <a:ext cx="17373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0" y="1828800"/>
            <a:ext cx="1737360" cy="50800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6B93"/>
                </a:solidFill>
                <a:latin typeface="Microsoft YaHei"/>
              </a:defRPr>
            </a:pPr>
            <a:r>
              <a:t>策略解析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423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L1/L2/L3</a:t>
            </a:r>
            <a:br/>
            <a:r>
              <a:t>自适应深度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2468880"/>
            <a:ext cx="182880" cy="254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828800"/>
            <a:ext cx="17373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828800"/>
            <a:ext cx="1737360" cy="50800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6B93"/>
                </a:solidFill>
                <a:latin typeface="Microsoft YaHei"/>
              </a:defRPr>
            </a:pPr>
            <a:r>
              <a:t>多路召回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423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5路并行</a:t>
            </a:r>
            <a:br/>
            <a:r>
              <a:t>语义+BM25+KG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468880"/>
            <a:ext cx="182880" cy="254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828800"/>
            <a:ext cx="17373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828800"/>
            <a:ext cx="1737360" cy="50800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6B93"/>
                </a:solidFill>
                <a:latin typeface="Microsoft YaHei"/>
              </a:defRPr>
            </a:pPr>
            <a:r>
              <a:t>RRF融合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23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加权融合</a:t>
            </a:r>
            <a:br/>
            <a:r>
              <a:t>双路保证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2468880"/>
            <a:ext cx="182880" cy="254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828800"/>
            <a:ext cx="17373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1737360" cy="50800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6B93"/>
                </a:solidFill>
                <a:latin typeface="Microsoft YaHei"/>
              </a:defRPr>
            </a:pPr>
            <a:r>
              <a:t>重排序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423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双重阈值</a:t>
            </a:r>
            <a:br/>
            <a:r>
              <a:t>精排过滤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2468880"/>
            <a:ext cx="182880" cy="254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58400" y="1828800"/>
            <a:ext cx="17373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58400" y="1828800"/>
            <a:ext cx="1737360" cy="50800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6B93"/>
                </a:solidFill>
                <a:latin typeface="Microsoft YaHei"/>
              </a:defRPr>
            </a:pPr>
            <a:r>
              <a:t>窗口展开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423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Sentence</a:t>
            </a:r>
            <a:br/>
            <a:r>
              <a:t>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840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B6B93"/>
                </a:solidFill>
                <a:latin typeface="Microsoft YaHei"/>
              </a:defRPr>
            </a:pPr>
            <a:r>
              <a:t>88/88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846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Golden Set</a:t>
            </a:r>
            <a:br/>
            <a:r>
              <a:t>通过率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3840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B6B93"/>
                </a:solidFill>
                <a:latin typeface="Microsoft YaHei"/>
              </a:defRPr>
            </a:pPr>
            <a:r>
              <a:t>0.96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846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Faithfulness</a:t>
            </a:r>
            <a:br/>
            <a:r>
              <a:t>忠实度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840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B6B93"/>
                </a:solidFill>
                <a:latin typeface="Microsoft YaHei"/>
              </a:defRPr>
            </a:pPr>
            <a:r>
              <a:t>0.67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846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Context</a:t>
            </a:r>
            <a:br/>
            <a:r>
              <a:t>Precision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59" y="3840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B6B93"/>
                </a:solidFill>
                <a:latin typeface="Microsoft YaHei"/>
              </a:defRPr>
            </a:pPr>
            <a:r>
              <a:t>~80%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59" y="4846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E72"/>
                </a:solidFill>
                <a:latin typeface="Microsoft YaHei"/>
              </a:defRPr>
            </a:pPr>
            <a:r>
              <a:t>语义缓存</a:t>
            </a:r>
            <a:br/>
            <a:r>
              <a:t>命中率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8720" y="539496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3436"/>
                </a:solidFill>
                <a:latin typeface="Microsoft YaHei"/>
              </a:defRPr>
            </a:pPr>
            <a:r>
              <a:t>知识库规模：3240区块  |  四科全覆盖  |  6组向量集合  |  HNSW M=32索引  |  274知识点图谱节点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436"/>
                </a:solidFill>
                <a:latin typeface="Microsoft YaHei"/>
              </a:defRPr>
            </a:pPr>
            <a:r>
              <a:t>多Agent协作系统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54864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2103120" cy="1371600"/>
          </a:xfrm>
          <a:prstGeom prst="round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Supervisor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9202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规则优先+LLM兜底</a:t>
            </a:r>
            <a:br/>
            <a:r>
              <a:t>两级路由策略</a:t>
            </a:r>
            <a:br/>
            <a:r>
              <a:t>检索策略预解析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6B93"/>
                </a:solidFill>
                <a:latin typeface="Microsoft YaHei"/>
              </a:defRPr>
            </a:pPr>
            <a:r>
              <a:t>知识问答Agent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概念解释/原理分析</a:t>
            </a:r>
            <a:br/>
            <a:r>
              <a:t>多路检索+KG补充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320040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3337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6B93"/>
                </a:solidFill>
                <a:latin typeface="Microsoft YaHei"/>
              </a:defRPr>
            </a:pPr>
            <a:r>
              <a:t>题目生成Agent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794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选择/填空/简答/综合</a:t>
            </a:r>
            <a:br/>
            <a:r>
              <a:t>难度标注+质量评分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320040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3337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6B93"/>
                </a:solidFill>
                <a:latin typeface="Microsoft YaHei"/>
              </a:defRPr>
            </a:pPr>
            <a:r>
              <a:t>答案批改Agent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794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逐项对比+评分反馈</a:t>
            </a:r>
            <a:br/>
            <a:r>
              <a:t>知识依据溯源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320040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3337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6B93"/>
                </a:solidFill>
                <a:latin typeface="Microsoft YaHei"/>
              </a:defRPr>
            </a:pPr>
            <a:r>
              <a:t>学习路径Agent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794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E72"/>
                </a:solidFill>
                <a:latin typeface="Microsoft YaHei"/>
              </a:defRPr>
            </a:pPr>
            <a:r>
              <a:t>前置分析+路径规划</a:t>
            </a:r>
            <a:br/>
            <a:r>
              <a:t>KG依赖追溯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6B93"/>
                </a:solidFill>
                <a:latin typeface="Microsoft YaHei"/>
              </a:defRPr>
            </a:pPr>
            <a:r>
              <a:t>三阶段质量保障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69280"/>
            <a:ext cx="2926080" cy="731520"/>
          </a:xfrm>
          <a:prstGeom prst="round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前置守卫</a:t>
            </a:r>
            <a:br/>
            <a:r>
              <a:t>证据充分性预检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5943600"/>
            <a:ext cx="548640" cy="13716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06240" y="5669280"/>
            <a:ext cx="2926080" cy="731520"/>
          </a:xfrm>
          <a:prstGeom prst="round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5715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后置治理</a:t>
            </a:r>
            <a:br/>
            <a:r>
              <a:t>格式与来源合规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5943600"/>
            <a:ext cx="548640" cy="13716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80960" y="5669280"/>
            <a:ext cx="2926080" cy="731520"/>
          </a:xfrm>
          <a:prstGeom prst="round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5715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语义反思</a:t>
            </a:r>
            <a:br/>
            <a:r>
              <a:t>内容与证据一致性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3436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731520" cy="50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755648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436"/>
                </a:solidFill>
                <a:latin typeface="Microsoft YaHei"/>
              </a:defRPr>
            </a:pPr>
            <a:r>
              <a:t>设计并实现了L1/L2/L3三层自适应检索深度策略，在检索延迟与召回质量之间实现动态平衡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395728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436"/>
                </a:solidFill>
                <a:latin typeface="Microsoft YaHei"/>
              </a:defRPr>
            </a:pPr>
            <a:r>
              <a:t>构建了5路并行召回+RRF融合+双阈值Reranker的高级RAG管线，忠实度达0.96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035808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436"/>
                </a:solidFill>
                <a:latin typeface="Microsoft YaHei"/>
              </a:defRPr>
            </a:pPr>
            <a:r>
              <a:t>基于LangGraph搭建了Supervisor+4Agent的多智能体协作架构，支持四种教学辅导场景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675887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56615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436"/>
                </a:solidFill>
                <a:latin typeface="Microsoft YaHei"/>
              </a:defRPr>
            </a:pPr>
            <a:r>
              <a:t>引入前置守卫→后置治理→语义反思三阶段质量保障机制，有效抑制幻觉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315968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206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436"/>
                </a:solidFill>
                <a:latin typeface="Microsoft YaHei"/>
              </a:defRPr>
            </a:pPr>
            <a:r>
              <a:t>Golden Set 88/88全部通过验证，语义缓存命中后延迟降至800ms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6B93"/>
                </a:solidFill>
                <a:latin typeface="Microsoft YaHei"/>
              </a:defRPr>
            </a:pPr>
            <a:r>
              <a:t>未来方向：补全四科知识图谱  ·  引入用户行为自适应策略  ·  扩展到更多学科领域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5943600"/>
            <a:ext cx="2103120" cy="457200"/>
          </a:xfrm>
          <a:prstGeom prst="round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943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